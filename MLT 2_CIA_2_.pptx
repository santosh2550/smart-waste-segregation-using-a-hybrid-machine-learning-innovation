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0-2.jpg" ContentType="image/jpg"/>
  <Override PartName="/ppt/media/image-11-2.jpg" ContentType="image/jpg"/>
  <Override PartName="/ppt/media/image-12-2.jpg" ContentType="image/jpg"/>
  <Override PartName="/ppt/media/image-13-2.jpg" ContentType="image/jpg"/>
  <Override PartName="/ppt/media/image-14-2.jpg" ContentType="image/jpg"/>
  <Override PartName="/ppt/media/image-15-2.jpg" ContentType="image/jpg"/>
  <Override PartName="/ppt/media/image-16-2.jpg" ContentType="image/jpg"/>
  <Override PartName="/ppt/media/image-17-2.jpg" ContentType="image/jpg"/>
  <Override PartName="/ppt/media/image-18-2.jpg" ContentType="image/jpg"/>
  <Override PartName="/ppt/media/image-19-2.jpg" ContentType="image/jpg"/>
  <Override PartName="/ppt/media/image-2-2.jpg" ContentType="image/jpg"/>
  <Override PartName="/ppt/media/image-20-2.jpg" ContentType="image/jpg"/>
  <Override PartName="/ppt/media/image-3-2.jpg" ContentType="image/jpg"/>
  <Override PartName="/ppt/media/image-4-2.jpg" ContentType="image/jpg"/>
  <Override PartName="/ppt/media/image-5-2.jpg" ContentType="image/jpg"/>
  <Override PartName="/ppt/media/image-6-2.jpg" ContentType="image/jpg"/>
  <Override PartName="/ppt/media/image-7-2.jpg" ContentType="image/jpg"/>
  <Override PartName="/ppt/media/image-8-2.jpg" ContentType="image/jpg"/>
  <Override PartName="/ppt/media/image-9-2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Relationship Id="rId5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an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7432"/>
            <a:ext cx="8092440" cy="135331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1463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5597"/>
                </a:solidFill>
              </a:rPr>
              <a:t>DEPARTMENT OF ARTIFICIAL INTELLIGENCE AND DATA SCIENCE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783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</a:rPr>
              <a:t>AGI1242 - MACHINE LEARNING TECHNIQUES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BATCH 2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2514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Presented By: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278892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2503811724321070 – Pagutharivan 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2503811724321083 – Risanth V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2503811724321091 – Santhosh Saran 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2503811724322112 – Tarika 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2503811724321123 – Vishwa N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943600" y="30175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Guided By: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Mr.P.Aravind Prasad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B.E., M.Tech.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Department of AI&amp;DS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g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73152"/>
            <a:ext cx="713232" cy="713232"/>
          </a:xfrm>
          <a:prstGeom prst="rect">
            <a:avLst/>
          </a:prstGeom>
        </p:spPr>
      </p:pic>
      <p:pic>
        <p:nvPicPr>
          <p:cNvPr id="3" name="Image 1" descr="lg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73152"/>
            <a:ext cx="713232" cy="71323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097280" y="155448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Smart Waste Segregation using a Hybrid Machine Learning Innovation</a:t>
            </a:r>
            <a:endParaRPr lang="en-US" sz="26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3017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marL="0" indent="0">
              <a:buNone/>
            </a:pPr>
            <a:endParaRPr/>
          </a:p>
        </p:txBody>
      </p:sp>
      <p:sp>
        <p:nvSpPr>
          <p:cNvPr id="6" name="Text 2"/>
          <p:cNvSpPr txBox="1"/>
          <p:nvPr/>
        </p:nvSpPr>
        <p:spPr>
          <a:xfrm>
            <a:off x="8229600" y="46634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g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73152"/>
            <a:ext cx="713232" cy="713232"/>
          </a:xfrm>
          <a:prstGeom prst="rect">
            <a:avLst/>
          </a:prstGeom>
        </p:spPr>
      </p:pic>
      <p:pic>
        <p:nvPicPr>
          <p:cNvPr id="3" name="Image 1" descr="lg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73152"/>
            <a:ext cx="713232" cy="71323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91440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PRESENTATION OVERVIEW</a:t>
            </a:r>
            <a:endParaRPr lang="en-US" sz="2400" dirty="0"/>
          </a:p>
        </p:txBody>
      </p:sp>
      <p:sp>
        <p:nvSpPr>
          <p:cNvPr id="5" name="Shape 1"/>
          <p:cNvSpPr/>
          <p:nvPr/>
        </p:nvSpPr>
        <p:spPr>
          <a:xfrm>
            <a:off x="658368" y="914400"/>
            <a:ext cx="7863840" cy="22860"/>
          </a:xfrm>
          <a:prstGeom prst="rect">
            <a:avLst/>
          </a:prstGeom>
          <a:solidFill>
            <a:srgbClr val="404040"/>
          </a:solidFill>
          <a:ln/>
        </p:spPr>
      </p:sp>
      <p:sp>
        <p:nvSpPr>
          <p:cNvPr id="6" name="Text 2"/>
          <p:cNvSpPr txBox="1"/>
          <p:nvPr/>
        </p:nvSpPr>
        <p:spPr>
          <a:xfrm>
            <a:off x="8229600" y="46634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3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640080" y="114300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spcAft>
                <a:spcPts val="700"/>
              </a:spcAft>
              <a:buSzPct val="100000"/>
              <a:buChar char="➢"/>
            </a:pPr>
            <a:r>
              <a:rPr lang="en-US" sz="1600" b="1" dirty="0">
                <a:solidFill>
                  <a:srgbClr val="1F2937"/>
                </a:solidFill>
              </a:rPr>
              <a:t>Objective</a:t>
            </a:r>
            <a:endParaRPr lang="en-US" sz="1600" dirty="0"/>
          </a:p>
          <a:p>
            <a:pPr marL="279400" indent="-279400">
              <a:spcAft>
                <a:spcPts val="700"/>
              </a:spcAft>
              <a:buSzPct val="100000"/>
              <a:buChar char="➢"/>
            </a:pPr>
            <a:r>
              <a:rPr lang="en-US" sz="1600" b="1" dirty="0">
                <a:solidFill>
                  <a:srgbClr val="1F2937"/>
                </a:solidFill>
              </a:rPr>
              <a:t>Problem Identification</a:t>
            </a:r>
            <a:endParaRPr lang="en-US" sz="1600" dirty="0"/>
          </a:p>
          <a:p>
            <a:pPr marL="279400" indent="-279400">
              <a:spcAft>
                <a:spcPts val="700"/>
              </a:spcAft>
              <a:buSzPct val="100000"/>
              <a:buChar char="➢"/>
            </a:pPr>
            <a:r>
              <a:rPr lang="en-US" sz="1600" b="1" dirty="0">
                <a:solidFill>
                  <a:srgbClr val="1F2937"/>
                </a:solidFill>
              </a:rPr>
              <a:t>Flow Diagram</a:t>
            </a:r>
            <a:endParaRPr lang="en-US" sz="1600" dirty="0"/>
          </a:p>
          <a:p>
            <a:pPr marL="279400" indent="-279400">
              <a:spcAft>
                <a:spcPts val="700"/>
              </a:spcAft>
              <a:buSzPct val="100000"/>
              <a:buChar char="➢"/>
            </a:pPr>
            <a:r>
              <a:rPr lang="en-US" sz="1600" b="1" dirty="0">
                <a:solidFill>
                  <a:srgbClr val="1F2937"/>
                </a:solidFill>
              </a:rPr>
              <a:t>Literature Survey</a:t>
            </a:r>
            <a:endParaRPr lang="en-US" sz="1600" dirty="0"/>
          </a:p>
          <a:p>
            <a:pPr marL="279400" indent="-279400">
              <a:spcAft>
                <a:spcPts val="700"/>
              </a:spcAft>
              <a:buSzPct val="100000"/>
              <a:buChar char="➢"/>
            </a:pPr>
            <a:r>
              <a:rPr lang="en-US" sz="1600" b="1" dirty="0">
                <a:solidFill>
                  <a:srgbClr val="1F2937"/>
                </a:solidFill>
              </a:rPr>
              <a:t>Research Methodology (Algorithm Explanation)</a:t>
            </a:r>
            <a:endParaRPr lang="en-US" sz="1600" dirty="0"/>
          </a:p>
          <a:p>
            <a:pPr marL="279400" indent="-279400">
              <a:spcAft>
                <a:spcPts val="700"/>
              </a:spcAft>
              <a:buSzPct val="100000"/>
              <a:buChar char="➢"/>
            </a:pPr>
            <a:r>
              <a:rPr lang="en-US" sz="1600" b="1" dirty="0">
                <a:solidFill>
                  <a:srgbClr val="1F2937"/>
                </a:solidFill>
              </a:rPr>
              <a:t>Compare Algorithms</a:t>
            </a:r>
            <a:endParaRPr lang="en-US" sz="1600" dirty="0"/>
          </a:p>
          <a:p>
            <a:pPr marL="279400" indent="-279400">
              <a:spcAft>
                <a:spcPts val="700"/>
              </a:spcAft>
              <a:buSzPct val="100000"/>
              <a:buChar char="➢"/>
            </a:pPr>
            <a:r>
              <a:rPr lang="en-US" sz="1600" b="1" dirty="0">
                <a:solidFill>
                  <a:srgbClr val="1F2937"/>
                </a:solidFill>
              </a:rPr>
              <a:t>Implementation Idea</a:t>
            </a:r>
            <a:endParaRPr lang="en-US" sz="1600" dirty="0"/>
          </a:p>
          <a:p>
            <a:pPr marL="279400" indent="-279400">
              <a:spcAft>
                <a:spcPts val="700"/>
              </a:spcAft>
              <a:buSzPct val="100000"/>
              <a:buChar char="➢"/>
            </a:pPr>
            <a:r>
              <a:rPr lang="en-US" sz="1600" b="1" dirty="0">
                <a:solidFill>
                  <a:srgbClr val="1F2937"/>
                </a:solidFill>
              </a:rPr>
              <a:t>Modules</a:t>
            </a:r>
            <a:endParaRPr lang="en-US" sz="1600" dirty="0"/>
          </a:p>
          <a:p>
            <a:pPr marL="279400" indent="-279400">
              <a:spcAft>
                <a:spcPts val="700"/>
              </a:spcAft>
              <a:buSzPct val="100000"/>
              <a:buChar char="➢"/>
            </a:pPr>
            <a:r>
              <a:rPr lang="en-US" sz="1600" b="1" dirty="0">
                <a:solidFill>
                  <a:srgbClr val="1F2937"/>
                </a:solidFill>
              </a:rPr>
              <a:t>Conclusion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g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73152"/>
            <a:ext cx="713232" cy="713232"/>
          </a:xfrm>
          <a:prstGeom prst="rect">
            <a:avLst/>
          </a:prstGeom>
        </p:spPr>
      </p:pic>
      <p:pic>
        <p:nvPicPr>
          <p:cNvPr id="3" name="Image 1" descr="lg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73152"/>
            <a:ext cx="713232" cy="71323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91440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</a:t>
            </a:r>
            <a:endParaRPr lang="en-US" sz="2400" dirty="0"/>
          </a:p>
        </p:txBody>
      </p:sp>
      <p:sp>
        <p:nvSpPr>
          <p:cNvPr id="5" name="Shape 1"/>
          <p:cNvSpPr/>
          <p:nvPr/>
        </p:nvSpPr>
        <p:spPr>
          <a:xfrm>
            <a:off x="658368" y="914400"/>
            <a:ext cx="7863840" cy="22860"/>
          </a:xfrm>
          <a:prstGeom prst="rect">
            <a:avLst/>
          </a:prstGeom>
          <a:solidFill>
            <a:srgbClr val="404040"/>
          </a:solidFill>
          <a:ln/>
        </p:spPr>
      </p:sp>
      <p:sp>
        <p:nvSpPr>
          <p:cNvPr id="6" name="Text 2"/>
          <p:cNvSpPr txBox="1"/>
          <p:nvPr/>
        </p:nvSpPr>
        <p:spPr>
          <a:xfrm>
            <a:off x="8229600" y="46634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4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640080" y="114300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spcAft>
                <a:spcPts val="700"/>
              </a:spcAft>
              <a:buSzPct val="100000"/>
              <a:buChar char="➢"/>
            </a:pPr>
            <a:r>
              <a:rPr lang="en-US" sz="1500" dirty="0">
                <a:solidFill>
                  <a:srgbClr val="1F2937"/>
                </a:solidFill>
              </a:rPr>
              <a:t>Automatically segregate waste at source into Wet / Dry / Recyclable / Hazardous classes using a hybrid ML model (CNN + Transformer attention).</a:t>
            </a:r>
            <a:endParaRPr lang="en-US" sz="1500" dirty="0"/>
          </a:p>
          <a:p>
            <a:pPr marL="279400" indent="-279400">
              <a:spcAft>
                <a:spcPts val="700"/>
              </a:spcAft>
              <a:buSzPct val="100000"/>
              <a:buChar char="➢"/>
            </a:pPr>
            <a:r>
              <a:rPr lang="en-US" sz="1500" dirty="0">
                <a:solidFill>
                  <a:srgbClr val="1F2937"/>
                </a:solidFill>
              </a:rPr>
              <a:t>Combine camera-based vision with low-cost sensors (moisture, inductive, capacitive) to resolve visually similar items.</a:t>
            </a:r>
            <a:endParaRPr lang="en-US" sz="1500" dirty="0"/>
          </a:p>
          <a:p>
            <a:pPr marL="279400" indent="-279400">
              <a:spcAft>
                <a:spcPts val="700"/>
              </a:spcAft>
              <a:buSzPct val="100000"/>
              <a:buChar char="➢"/>
            </a:pPr>
            <a:r>
              <a:rPr lang="en-US" sz="1500" dirty="0">
                <a:solidFill>
                  <a:srgbClr val="1F2937"/>
                </a:solidFill>
              </a:rPr>
              <a:t>Run in real time on an edge device (Raspberry Pi / Jetson) with a servo-driven sorting bin.</a:t>
            </a:r>
            <a:endParaRPr lang="en-US" sz="1500" dirty="0"/>
          </a:p>
          <a:p>
            <a:pPr marL="279400" indent="-279400">
              <a:spcAft>
                <a:spcPts val="700"/>
              </a:spcAft>
              <a:buSzPct val="100000"/>
              <a:buChar char="➢"/>
            </a:pPr>
            <a:r>
              <a:rPr lang="en-US" sz="1500" dirty="0">
                <a:solidFill>
                  <a:srgbClr val="1F2937"/>
                </a:solidFill>
              </a:rPr>
              <a:t>Monitor bin fill-level and sorting statistics through an IoT dashboard.</a:t>
            </a:r>
            <a:endParaRPr lang="en-US" sz="1500" dirty="0"/>
          </a:p>
          <a:p>
            <a:pPr marL="279400" indent="-279400">
              <a:spcAft>
                <a:spcPts val="700"/>
              </a:spcAft>
              <a:buSzPct val="100000"/>
              <a:buChar char="➢"/>
            </a:pPr>
            <a:r>
              <a:rPr lang="en-US" sz="1500" dirty="0">
                <a:solidFill>
                  <a:srgbClr val="1F2937"/>
                </a:solidFill>
              </a:rPr>
              <a:t>Target: higher accuracy than single-CNN baselines with low latency.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g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73152"/>
            <a:ext cx="713232" cy="713232"/>
          </a:xfrm>
          <a:prstGeom prst="rect">
            <a:avLst/>
          </a:prstGeom>
        </p:spPr>
      </p:pic>
      <p:pic>
        <p:nvPicPr>
          <p:cNvPr id="3" name="Image 1" descr="lg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73152"/>
            <a:ext cx="713232" cy="71323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91440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IDENTIFICATION</a:t>
            </a:r>
            <a:endParaRPr lang="en-US" sz="2400" dirty="0"/>
          </a:p>
        </p:txBody>
      </p:sp>
      <p:sp>
        <p:nvSpPr>
          <p:cNvPr id="5" name="Shape 1"/>
          <p:cNvSpPr/>
          <p:nvPr/>
        </p:nvSpPr>
        <p:spPr>
          <a:xfrm>
            <a:off x="658368" y="914400"/>
            <a:ext cx="7863840" cy="22860"/>
          </a:xfrm>
          <a:prstGeom prst="rect">
            <a:avLst/>
          </a:prstGeom>
          <a:solidFill>
            <a:srgbClr val="404040"/>
          </a:solidFill>
          <a:ln/>
        </p:spPr>
      </p:sp>
      <p:sp>
        <p:nvSpPr>
          <p:cNvPr id="6" name="Text 2"/>
          <p:cNvSpPr txBox="1"/>
          <p:nvPr/>
        </p:nvSpPr>
        <p:spPr>
          <a:xfrm>
            <a:off x="8229600" y="46634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5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640080" y="114300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spcAft>
                <a:spcPts val="700"/>
              </a:spcAft>
              <a:buSzPct val="100000"/>
              <a:buChar char="➢"/>
            </a:pPr>
            <a:r>
              <a:rPr lang="en-US" sz="1600" dirty="0">
                <a:solidFill>
                  <a:srgbClr val="1F2937"/>
                </a:solidFill>
              </a:rPr>
              <a:t>Manual segregation is slow, inconsistent and exposes workers to hazards.</a:t>
            </a:r>
            <a:endParaRPr lang="en-US" sz="1600" dirty="0"/>
          </a:p>
          <a:p>
            <a:pPr marL="279400" indent="-279400">
              <a:spcAft>
                <a:spcPts val="700"/>
              </a:spcAft>
              <a:buSzPct val="100000"/>
              <a:buChar char="➢"/>
            </a:pPr>
            <a:r>
              <a:rPr lang="en-US" sz="1600" dirty="0">
                <a:solidFill>
                  <a:srgbClr val="1F2937"/>
                </a:solidFill>
              </a:rPr>
              <a:t>Mixed waste lowers recycling yield and increases landfill load.</a:t>
            </a:r>
            <a:endParaRPr lang="en-US" sz="1600" dirty="0"/>
          </a:p>
          <a:p>
            <a:pPr marL="279400" indent="-279400">
              <a:spcAft>
                <a:spcPts val="700"/>
              </a:spcAft>
              <a:buSzPct val="100000"/>
              <a:buChar char="➢"/>
            </a:pPr>
            <a:r>
              <a:rPr lang="en-US" sz="1600" dirty="0">
                <a:solidFill>
                  <a:srgbClr val="1F2937"/>
                </a:solidFill>
              </a:rPr>
              <a:t>Single-model classifiers struggle with look-alike, dirty, crumpled or overlapping items.</a:t>
            </a:r>
            <a:endParaRPr lang="en-US" sz="1600" dirty="0"/>
          </a:p>
          <a:p>
            <a:pPr marL="279400" indent="-279400">
              <a:spcAft>
                <a:spcPts val="700"/>
              </a:spcAft>
              <a:buSzPct val="100000"/>
              <a:buChar char="➢"/>
            </a:pPr>
            <a:r>
              <a:rPr lang="en-US" sz="1600" dirty="0">
                <a:solidFill>
                  <a:srgbClr val="1F2937"/>
                </a:solidFill>
              </a:rPr>
              <a:t>Vision-only systems fail under poor lighting; heavy models are hard to deploy on edge hardware.</a:t>
            </a:r>
            <a:endParaRPr lang="en-US" sz="1600" dirty="0"/>
          </a:p>
          <a:p>
            <a:pPr marL="279400" indent="-279400">
              <a:spcAft>
                <a:spcPts val="700"/>
              </a:spcAft>
              <a:buSzPct val="100000"/>
              <a:buChar char="➢"/>
            </a:pPr>
            <a:r>
              <a:rPr lang="en-US" sz="1600" dirty="0">
                <a:solidFill>
                  <a:srgbClr val="1F2937"/>
                </a:solidFill>
              </a:rPr>
              <a:t>Gap: no lightweight system that fuses vision + sensors + IoT in one pipeline.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g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73152"/>
            <a:ext cx="713232" cy="713232"/>
          </a:xfrm>
          <a:prstGeom prst="rect">
            <a:avLst/>
          </a:prstGeom>
        </p:spPr>
      </p:pic>
      <p:pic>
        <p:nvPicPr>
          <p:cNvPr id="3" name="Image 1" descr="lg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73152"/>
            <a:ext cx="713232" cy="71323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91440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FLOW DIAGRAM</a:t>
            </a:r>
            <a:endParaRPr lang="en-US" sz="2400" dirty="0"/>
          </a:p>
        </p:txBody>
      </p:sp>
      <p:sp>
        <p:nvSpPr>
          <p:cNvPr id="5" name="Shape 1"/>
          <p:cNvSpPr/>
          <p:nvPr/>
        </p:nvSpPr>
        <p:spPr>
          <a:xfrm>
            <a:off x="658368" y="914400"/>
            <a:ext cx="7863840" cy="22860"/>
          </a:xfrm>
          <a:prstGeom prst="rect">
            <a:avLst/>
          </a:prstGeom>
          <a:solidFill>
            <a:srgbClr val="404040"/>
          </a:solidFill>
          <a:ln/>
        </p:spPr>
      </p:sp>
      <p:sp>
        <p:nvSpPr>
          <p:cNvPr id="6" name="Text 2"/>
          <p:cNvSpPr txBox="1"/>
          <p:nvPr/>
        </p:nvSpPr>
        <p:spPr>
          <a:xfrm>
            <a:off x="8229600" y="46634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6</a:t>
            </a:r>
            <a:endParaRPr lang="en-US" sz="900" dirty="0"/>
          </a:p>
        </p:txBody>
      </p:sp>
      <p:pic>
        <p:nvPicPr>
          <p:cNvPr id="7" name="Picture 6" descr="flowcr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52615" y="1005840"/>
            <a:ext cx="4238769" cy="40690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g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73152"/>
            <a:ext cx="713232" cy="713232"/>
          </a:xfrm>
          <a:prstGeom prst="rect">
            <a:avLst/>
          </a:prstGeom>
        </p:spPr>
      </p:pic>
      <p:pic>
        <p:nvPicPr>
          <p:cNvPr id="3" name="Image 1" descr="lg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73152"/>
            <a:ext cx="713232" cy="71323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91440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LITERATURE SURVEY (1/3)</a:t>
            </a:r>
            <a:endParaRPr lang="en-US" sz="2400" dirty="0"/>
          </a:p>
        </p:txBody>
      </p:sp>
      <p:sp>
        <p:nvSpPr>
          <p:cNvPr id="5" name="Shape 1"/>
          <p:cNvSpPr/>
          <p:nvPr/>
        </p:nvSpPr>
        <p:spPr>
          <a:xfrm>
            <a:off x="658368" y="914400"/>
            <a:ext cx="7863840" cy="22860"/>
          </a:xfrm>
          <a:prstGeom prst="rect">
            <a:avLst/>
          </a:prstGeom>
          <a:solidFill>
            <a:srgbClr val="404040"/>
          </a:solidFill>
          <a:ln/>
        </p:spPr>
      </p:sp>
      <p:sp>
        <p:nvSpPr>
          <p:cNvPr id="6" name="Text 2"/>
          <p:cNvSpPr txBox="1"/>
          <p:nvPr/>
        </p:nvSpPr>
        <p:spPr>
          <a:xfrm>
            <a:off x="8229600" y="46634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7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43000"/>
          <a:ext cx="841248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651760"/>
                <a:gridCol w="2468880"/>
                <a:gridCol w="28346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Author / Venue (Year)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Key Finding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DE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Zhang et al., Urban Climate (2023)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DE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Hybrid deep model for solid waste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DE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Hybrid design for solid-waste classification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DEF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Lilhore et al., Multimedia Tools Appl. (2024)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CNN-LSTM + transfer learning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95.45% precision; beat VGG-16, ResNet-34/50, AlexNet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DE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Kabilan et al., ICICNIS (2024)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DE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Enhanced CNN architecture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DE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Accurate waste classification for smart cities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DEF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Gomathi &amp; Narayanan, IEEE CICN (2024)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DL-aided classification system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Smart-city waste classification pipeline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DE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Murugan et al., ICC-ROBINS (2024)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DE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DL-based hybrid image classifier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DE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Hybrid model for solid-waste management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DE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g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73152"/>
            <a:ext cx="713232" cy="713232"/>
          </a:xfrm>
          <a:prstGeom prst="rect">
            <a:avLst/>
          </a:prstGeom>
        </p:spPr>
      </p:pic>
      <p:pic>
        <p:nvPicPr>
          <p:cNvPr id="3" name="Image 1" descr="lg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73152"/>
            <a:ext cx="713232" cy="71323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91440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LITERATURE SURVEY (2/3)</a:t>
            </a:r>
            <a:endParaRPr lang="en-US" sz="2400" dirty="0"/>
          </a:p>
        </p:txBody>
      </p:sp>
      <p:sp>
        <p:nvSpPr>
          <p:cNvPr id="5" name="Shape 1"/>
          <p:cNvSpPr/>
          <p:nvPr/>
        </p:nvSpPr>
        <p:spPr>
          <a:xfrm>
            <a:off x="658368" y="914400"/>
            <a:ext cx="7863840" cy="22860"/>
          </a:xfrm>
          <a:prstGeom prst="rect">
            <a:avLst/>
          </a:prstGeom>
          <a:solidFill>
            <a:srgbClr val="404040"/>
          </a:solidFill>
          <a:ln/>
        </p:spPr>
      </p:sp>
      <p:sp>
        <p:nvSpPr>
          <p:cNvPr id="6" name="Text 2"/>
          <p:cNvSpPr txBox="1"/>
          <p:nvPr/>
        </p:nvSpPr>
        <p:spPr>
          <a:xfrm>
            <a:off x="8229600" y="46634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8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43000"/>
          <a:ext cx="841248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651760"/>
                <a:gridCol w="2468880"/>
                <a:gridCol w="28346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Author / Venue (Year)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Key Finding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DE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Multi-class CNN, Appl. Environ. Res. (2024)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DE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MobileNetV2 / DenseNet121 transfer vs scratch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DE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MobileNetV2 ~92% acc.; scratch model 65%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DEF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Dry waste hybrid, JOIV (2024)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EfficientNet TL + PCA + CNN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Dimensionality reduction + CNN for dry waste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DE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SMARTSORT, E3S Web Conf. (2024)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DE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YOLOv4 + Arduino Mega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DE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Hands-free sorting of paper, plastic, metal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DEF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Smart trash bank, IEEE CENIM (2024)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YOLOv8 + CNN + Firebase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Organic/inorganic sorting with app monitoring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DE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Tej et al., J. Mach. Comput. (2025)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DE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Autoencoder + Vision Transformer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DE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96.72% precision; 96.46% F1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DE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g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73152"/>
            <a:ext cx="713232" cy="713232"/>
          </a:xfrm>
          <a:prstGeom prst="rect">
            <a:avLst/>
          </a:prstGeom>
        </p:spPr>
      </p:pic>
      <p:pic>
        <p:nvPicPr>
          <p:cNvPr id="3" name="Image 1" descr="lg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73152"/>
            <a:ext cx="713232" cy="71323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91440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LITERATURE SURVEY (3/3)</a:t>
            </a:r>
            <a:endParaRPr lang="en-US" sz="2400" dirty="0"/>
          </a:p>
        </p:txBody>
      </p:sp>
      <p:sp>
        <p:nvSpPr>
          <p:cNvPr id="5" name="Shape 1"/>
          <p:cNvSpPr/>
          <p:nvPr/>
        </p:nvSpPr>
        <p:spPr>
          <a:xfrm>
            <a:off x="658368" y="914400"/>
            <a:ext cx="7863840" cy="22860"/>
          </a:xfrm>
          <a:prstGeom prst="rect">
            <a:avLst/>
          </a:prstGeom>
          <a:solidFill>
            <a:srgbClr val="404040"/>
          </a:solidFill>
          <a:ln/>
        </p:spPr>
      </p:sp>
      <p:sp>
        <p:nvSpPr>
          <p:cNvPr id="6" name="Text 2"/>
          <p:cNvSpPr txBox="1"/>
          <p:nvPr/>
        </p:nvSpPr>
        <p:spPr>
          <a:xfrm>
            <a:off x="8229600" y="46634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9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43000"/>
          <a:ext cx="841248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651760"/>
                <a:gridCol w="2468880"/>
                <a:gridCol w="28346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Author / Venue (Year)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Key Finding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DE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Husein et al., JIKI (2025)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DE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HR-ViT: ResNet50 + ViT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DE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Local + global features; 6 classes incl. batteries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DEF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Rodrigues &amp; Padmanabha, Sustainability (2025)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11 pretrained CNNs + stacking ensemble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98.29% test accuracy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DE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Deep ensemble, Sustainability 18(1) (2025)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DE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Pretrained models + weighted averaging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DE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Ensembling improves accuracy and stability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DEF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Tanwer et al., Front. AI (2025)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ViT, Swin, PVT for bin fullness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ViT gave best accuracy on CDCM dataset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DE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Hybrid CNN-DenseNet121, EPJ Web Conf. 369 (2026)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DE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4-layer CNN + DenseNet121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DE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Beat single-model baselines on TrashNet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DE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g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73152"/>
            <a:ext cx="713232" cy="713232"/>
          </a:xfrm>
          <a:prstGeom prst="rect">
            <a:avLst/>
          </a:prstGeom>
        </p:spPr>
      </p:pic>
      <p:pic>
        <p:nvPicPr>
          <p:cNvPr id="3" name="Image 1" descr="lg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73152"/>
            <a:ext cx="713232" cy="71323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91440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 METHODOLOGY: HYBRID ALGORITHM</a:t>
            </a:r>
            <a:endParaRPr lang="en-US" sz="1800" dirty="0"/>
          </a:p>
        </p:txBody>
      </p:sp>
      <p:sp>
        <p:nvSpPr>
          <p:cNvPr id="5" name="Shape 1"/>
          <p:cNvSpPr/>
          <p:nvPr/>
        </p:nvSpPr>
        <p:spPr>
          <a:xfrm>
            <a:off x="658368" y="914400"/>
            <a:ext cx="7863840" cy="22860"/>
          </a:xfrm>
          <a:prstGeom prst="rect">
            <a:avLst/>
          </a:prstGeom>
          <a:solidFill>
            <a:srgbClr val="404040"/>
          </a:solidFill>
          <a:ln/>
        </p:spPr>
      </p:sp>
      <p:sp>
        <p:nvSpPr>
          <p:cNvPr id="6" name="Text 2"/>
          <p:cNvSpPr txBox="1"/>
          <p:nvPr/>
        </p:nvSpPr>
        <p:spPr>
          <a:xfrm>
            <a:off x="8229600" y="46634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10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640080" y="114300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spcAft>
                <a:spcPts val="700"/>
              </a:spcAft>
              <a:buSzPct val="100000"/>
              <a:buChar char="➢"/>
            </a:pPr>
            <a:r>
              <a:rPr lang="en-US" sz="1400" dirty="0">
                <a:solidFill>
                  <a:srgbClr val="1F2937"/>
                </a:solidFill>
              </a:rPr>
              <a:t>Stage 1 – Detection: YOLOv8-nano localises the item and crops the region of interest.</a:t>
            </a:r>
            <a:endParaRPr lang="en-US" sz="1400" dirty="0"/>
          </a:p>
          <a:p>
            <a:pPr marL="279400" indent="-279400">
              <a:spcAft>
                <a:spcPts val="700"/>
              </a:spcAft>
              <a:buSzPct val="100000"/>
              <a:buChar char="➢"/>
            </a:pPr>
            <a:r>
              <a:rPr lang="en-US" sz="1400" dirty="0">
                <a:solidFill>
                  <a:srgbClr val="1F2937"/>
                </a:solidFill>
              </a:rPr>
              <a:t>Stage 2 – Feature learning: EfficientNet-B0 / MobileNetV2 (transfer learning) extracts local texture and shape features.</a:t>
            </a:r>
            <a:endParaRPr lang="en-US" sz="1400" dirty="0"/>
          </a:p>
          <a:p>
            <a:pPr marL="279400" indent="-279400">
              <a:spcAft>
                <a:spcPts val="700"/>
              </a:spcAft>
              <a:buSzPct val="100000"/>
              <a:buChar char="➢"/>
            </a:pPr>
            <a:r>
              <a:rPr lang="en-US" sz="1400" dirty="0">
                <a:solidFill>
                  <a:srgbClr val="1F2937"/>
                </a:solidFill>
              </a:rPr>
              <a:t>Stage 3 – Global context: a lightweight Transformer (self-attention) encoder refines features; softmax gives class probabilities.</a:t>
            </a:r>
            <a:endParaRPr lang="en-US" sz="1400" dirty="0"/>
          </a:p>
          <a:p>
            <a:pPr marL="279400" indent="-279400">
              <a:spcAft>
                <a:spcPts val="700"/>
              </a:spcAft>
              <a:buSzPct val="100000"/>
              <a:buChar char="➢"/>
            </a:pPr>
            <a:r>
              <a:rPr lang="en-US" sz="1400" dirty="0">
                <a:solidFill>
                  <a:srgbClr val="1F2937"/>
                </a:solidFill>
              </a:rPr>
              <a:t>Stage 4 – Sensor fusion: Random Forest combines CNN-Transformer probabilities with moisture, inductive and capacitive readings.</a:t>
            </a:r>
            <a:endParaRPr lang="en-US" sz="1400" dirty="0"/>
          </a:p>
          <a:p>
            <a:pPr marL="279400" indent="-279400">
              <a:spcAft>
                <a:spcPts val="700"/>
              </a:spcAft>
              <a:buSzPct val="100000"/>
              <a:buChar char="➢"/>
            </a:pPr>
            <a:r>
              <a:rPr lang="en-US" sz="1400" dirty="0">
                <a:solidFill>
                  <a:srgbClr val="1F2937"/>
                </a:solidFill>
              </a:rPr>
              <a:t>Stage 5 – Decision: class with highest fused confidence drives the servo; low confidence goes to a "manual / unknown" bin.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g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73152"/>
            <a:ext cx="713232" cy="713232"/>
          </a:xfrm>
          <a:prstGeom prst="rect">
            <a:avLst/>
          </a:prstGeom>
        </p:spPr>
      </p:pic>
      <p:pic>
        <p:nvPicPr>
          <p:cNvPr id="3" name="Image 1" descr="lg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73152"/>
            <a:ext cx="713232" cy="71323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91440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ALGORITHM STEPS</a:t>
            </a:r>
            <a:endParaRPr lang="en-US" sz="2400" dirty="0"/>
          </a:p>
        </p:txBody>
      </p:sp>
      <p:sp>
        <p:nvSpPr>
          <p:cNvPr id="5" name="Shape 1"/>
          <p:cNvSpPr/>
          <p:nvPr/>
        </p:nvSpPr>
        <p:spPr>
          <a:xfrm>
            <a:off x="658368" y="914400"/>
            <a:ext cx="7863840" cy="22860"/>
          </a:xfrm>
          <a:prstGeom prst="rect">
            <a:avLst/>
          </a:prstGeom>
          <a:solidFill>
            <a:srgbClr val="404040"/>
          </a:solidFill>
          <a:ln/>
        </p:spPr>
      </p:sp>
      <p:sp>
        <p:nvSpPr>
          <p:cNvPr id="6" name="Text 2"/>
          <p:cNvSpPr txBox="1"/>
          <p:nvPr/>
        </p:nvSpPr>
        <p:spPr>
          <a:xfrm>
            <a:off x="8229600" y="46634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11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640080" y="114300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spcAft>
                <a:spcPts val="700"/>
              </a:spcAft>
              <a:buSzPct val="100000"/>
              <a:buChar char="➢"/>
            </a:pPr>
            <a:r>
              <a:rPr lang="en-US" sz="1300" dirty="0">
                <a:solidFill>
                  <a:srgbClr val="1F2937"/>
                </a:solidFill>
              </a:rPr>
              <a:t>1. Capture image; resize to 224×224, normalise, augment (flip, rotate, brightness).</a:t>
            </a:r>
            <a:endParaRPr lang="en-US" sz="1300" dirty="0"/>
          </a:p>
          <a:p>
            <a:pPr marL="279400" indent="-279400">
              <a:spcAft>
                <a:spcPts val="700"/>
              </a:spcAft>
              <a:buSzPct val="100000"/>
              <a:buChar char="➢"/>
            </a:pPr>
            <a:r>
              <a:rPr lang="en-US" sz="1300" dirty="0">
                <a:solidFill>
                  <a:srgbClr val="1F2937"/>
                </a:solidFill>
              </a:rPr>
              <a:t>2. Detect object with YOLOv8n; crop region.</a:t>
            </a:r>
            <a:endParaRPr lang="en-US" sz="1300" dirty="0"/>
          </a:p>
          <a:p>
            <a:pPr marL="279400" indent="-279400">
              <a:spcAft>
                <a:spcPts val="700"/>
              </a:spcAft>
              <a:buSzPct val="100000"/>
              <a:buChar char="➢"/>
            </a:pPr>
            <a:r>
              <a:rPr lang="en-US" sz="1300" dirty="0">
                <a:solidFill>
                  <a:srgbClr val="1F2937"/>
                </a:solidFill>
              </a:rPr>
              <a:t>3. F = EfficientNet(crop); Z = TransformerEncoder(F).</a:t>
            </a:r>
            <a:endParaRPr lang="en-US" sz="1300" dirty="0"/>
          </a:p>
          <a:p>
            <a:pPr marL="279400" indent="-279400">
              <a:spcAft>
                <a:spcPts val="700"/>
              </a:spcAft>
              <a:buSzPct val="100000"/>
              <a:buChar char="➢"/>
            </a:pPr>
            <a:r>
              <a:rPr lang="en-US" sz="1300" dirty="0">
                <a:solidFill>
                  <a:srgbClr val="1F2937"/>
                </a:solidFill>
              </a:rPr>
              <a:t>4. P_vision = Softmax(W·Z).</a:t>
            </a:r>
            <a:endParaRPr lang="en-US" sz="1300" dirty="0"/>
          </a:p>
          <a:p>
            <a:pPr marL="279400" indent="-279400">
              <a:spcAft>
                <a:spcPts val="700"/>
              </a:spcAft>
              <a:buSzPct val="100000"/>
              <a:buChar char="➢"/>
            </a:pPr>
            <a:r>
              <a:rPr lang="en-US" sz="1300" dirty="0">
                <a:solidFill>
                  <a:srgbClr val="1F2937"/>
                </a:solidFill>
              </a:rPr>
              <a:t>5. S = [moisture, inductive, capacitive]; P_final = RandomForest([P_vision, S]).</a:t>
            </a:r>
            <a:endParaRPr lang="en-US" sz="1300" dirty="0"/>
          </a:p>
          <a:p>
            <a:pPr marL="279400" indent="-279400">
              <a:spcAft>
                <a:spcPts val="700"/>
              </a:spcAft>
              <a:buSzPct val="100000"/>
              <a:buChar char="➢"/>
            </a:pPr>
            <a:r>
              <a:rPr lang="en-US" sz="1300" dirty="0">
                <a:solidFill>
                  <a:srgbClr val="1F2937"/>
                </a:solidFill>
              </a:rPr>
              <a:t>6. If max(P_final) ≥ 0.80 → open bin of that class; else → unknown bin.</a:t>
            </a:r>
            <a:endParaRPr lang="en-US" sz="1300" dirty="0"/>
          </a:p>
          <a:p>
            <a:pPr marL="279400" indent="-279400">
              <a:spcAft>
                <a:spcPts val="700"/>
              </a:spcAft>
              <a:buSzPct val="100000"/>
              <a:buChar char="➢"/>
            </a:pPr>
            <a:r>
              <a:rPr lang="en-US" sz="1300" dirty="0">
                <a:solidFill>
                  <a:srgbClr val="1F2937"/>
                </a:solidFill>
              </a:rPr>
              <a:t>Training: Adam, cross-entropy, early stopping. Metrics: accuracy, precision, recall, F1, latency (ms/frame).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g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73152"/>
            <a:ext cx="713232" cy="713232"/>
          </a:xfrm>
          <a:prstGeom prst="rect">
            <a:avLst/>
          </a:prstGeom>
        </p:spPr>
      </p:pic>
      <p:pic>
        <p:nvPicPr>
          <p:cNvPr id="3" name="Image 1" descr="lg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73152"/>
            <a:ext cx="713232" cy="71323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91440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COMPARE ALGORITHMS</a:t>
            </a:r>
            <a:endParaRPr lang="en-US" sz="2400" dirty="0"/>
          </a:p>
        </p:txBody>
      </p:sp>
      <p:sp>
        <p:nvSpPr>
          <p:cNvPr id="5" name="Shape 1"/>
          <p:cNvSpPr/>
          <p:nvPr/>
        </p:nvSpPr>
        <p:spPr>
          <a:xfrm>
            <a:off x="658368" y="914400"/>
            <a:ext cx="7863840" cy="22860"/>
          </a:xfrm>
          <a:prstGeom prst="rect">
            <a:avLst/>
          </a:prstGeom>
          <a:solidFill>
            <a:srgbClr val="404040"/>
          </a:solidFill>
          <a:ln/>
        </p:spPr>
      </p:sp>
      <p:sp>
        <p:nvSpPr>
          <p:cNvPr id="6" name="Text 2"/>
          <p:cNvSpPr txBox="1"/>
          <p:nvPr/>
        </p:nvSpPr>
        <p:spPr>
          <a:xfrm>
            <a:off x="8229600" y="46634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12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84124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194560"/>
                <a:gridCol w="2194560"/>
                <a:gridCol w="16459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Algorithm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Strength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Limitation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Edge suitability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CNN (VGG/ResNet)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DE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Strong local features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DE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Heavy; weak global context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DE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Medium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DE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MobileNetV2 / EfficientNet-B0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Light, good with transfer learning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Limited on cluttered scenes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High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YOLOv8n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DE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Real-time detection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DE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Lower fine-grained accuracy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DE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High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DE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Vision Transformer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Global attention; high accuracy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Data- and compute-hungry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Low–Medium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CNN-LSTM hybrid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DE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Good on organic vs recyclable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DE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Sequential overhead for images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DE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Medium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DE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Proposed: YOLO + CNN-Transformer + sensors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Accuracy + speed + material cues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More components to integrate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High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</a:tr>
            </a:tbl>
          </a:graphicData>
        </a:graphic>
      </p:graphicFrame>
      <p:sp>
        <p:nvSpPr>
          <p:cNvPr id="8" name="Text 3"/>
          <p:cNvSpPr txBox="1"/>
          <p:nvPr/>
        </p:nvSpPr>
        <p:spPr>
          <a:xfrm>
            <a:off x="365760" y="43891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Literature-reported results (different datasets, not directly comparable): CNN-LSTM 95.45% precision; AE+ViT 96.72%; stacking ensemble 98.29%; MobileNetV2 ~92%.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g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73152"/>
            <a:ext cx="713232" cy="713232"/>
          </a:xfrm>
          <a:prstGeom prst="rect">
            <a:avLst/>
          </a:prstGeom>
        </p:spPr>
      </p:pic>
      <p:pic>
        <p:nvPicPr>
          <p:cNvPr id="3" name="Image 1" descr="lg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73152"/>
            <a:ext cx="713232" cy="71323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91440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IMPLEMENTATION IDEA</a:t>
            </a:r>
            <a:endParaRPr lang="en-US" sz="2400" dirty="0"/>
          </a:p>
        </p:txBody>
      </p:sp>
      <p:sp>
        <p:nvSpPr>
          <p:cNvPr id="5" name="Shape 1"/>
          <p:cNvSpPr/>
          <p:nvPr/>
        </p:nvSpPr>
        <p:spPr>
          <a:xfrm>
            <a:off x="658368" y="914400"/>
            <a:ext cx="7863840" cy="22860"/>
          </a:xfrm>
          <a:prstGeom prst="rect">
            <a:avLst/>
          </a:prstGeom>
          <a:solidFill>
            <a:srgbClr val="404040"/>
          </a:solidFill>
          <a:ln/>
        </p:spPr>
      </p:sp>
      <p:sp>
        <p:nvSpPr>
          <p:cNvPr id="6" name="Text 2"/>
          <p:cNvSpPr txBox="1"/>
          <p:nvPr/>
        </p:nvSpPr>
        <p:spPr>
          <a:xfrm>
            <a:off x="8229600" y="46634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13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640080" y="114300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spcAft>
                <a:spcPts val="700"/>
              </a:spcAft>
              <a:buSzPct val="100000"/>
              <a:buChar char="➢"/>
            </a:pPr>
            <a:r>
              <a:rPr lang="en-US" sz="1400" dirty="0">
                <a:solidFill>
                  <a:srgbClr val="1F2937"/>
                </a:solidFill>
              </a:rPr>
              <a:t>Data: TrashNet + TACO / Kaggle waste datasets plus self-collected images; 80/10/10 split.</a:t>
            </a:r>
            <a:endParaRPr lang="en-US" sz="1400" dirty="0"/>
          </a:p>
          <a:p>
            <a:pPr marL="279400" indent="-279400">
              <a:spcAft>
                <a:spcPts val="700"/>
              </a:spcAft>
              <a:buSzPct val="100000"/>
              <a:buChar char="➢"/>
            </a:pPr>
            <a:r>
              <a:rPr lang="en-US" sz="1400" dirty="0">
                <a:solidFill>
                  <a:srgbClr val="1F2937"/>
                </a:solidFill>
              </a:rPr>
              <a:t>Training: Python, PyTorch, Google Colab GPU; export to ONNX / TFLite for the edge.</a:t>
            </a:r>
            <a:endParaRPr lang="en-US" sz="1400" dirty="0"/>
          </a:p>
          <a:p>
            <a:pPr marL="279400" indent="-279400">
              <a:spcAft>
                <a:spcPts val="700"/>
              </a:spcAft>
              <a:buSzPct val="100000"/>
              <a:buChar char="➢"/>
            </a:pPr>
            <a:r>
              <a:rPr lang="en-US" sz="1400" dirty="0">
                <a:solidFill>
                  <a:srgbClr val="1F2937"/>
                </a:solidFill>
              </a:rPr>
              <a:t>Hardware: Raspberry Pi 4 (or Jetson Nano), Pi camera, servo motors, ultrasonic, moisture, inductive and capacitive sensors.</a:t>
            </a:r>
            <a:endParaRPr lang="en-US" sz="1400" dirty="0"/>
          </a:p>
          <a:p>
            <a:pPr marL="279400" indent="-279400">
              <a:spcAft>
                <a:spcPts val="700"/>
              </a:spcAft>
              <a:buSzPct val="100000"/>
              <a:buChar char="➢"/>
            </a:pPr>
            <a:r>
              <a:rPr lang="en-US" sz="1400" dirty="0">
                <a:solidFill>
                  <a:srgbClr val="1F2937"/>
                </a:solidFill>
              </a:rPr>
              <a:t>Software: OpenCV pipeline, Flask/MQTT API, Firebase or ThingSpeak dashboard.</a:t>
            </a:r>
            <a:endParaRPr lang="en-US" sz="1400" dirty="0"/>
          </a:p>
          <a:p>
            <a:pPr marL="279400" indent="-279400">
              <a:spcAft>
                <a:spcPts val="700"/>
              </a:spcAft>
              <a:buSzPct val="100000"/>
              <a:buChar char="➢"/>
            </a:pPr>
            <a:r>
              <a:rPr lang="en-US" sz="1400" dirty="0">
                <a:solidFill>
                  <a:srgbClr val="1F2937"/>
                </a:solidFill>
              </a:rPr>
              <a:t>Evaluation: confusion matrix, F1, FPS and sorting accuracy on live trials vs. single-CNN baseline.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g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73152"/>
            <a:ext cx="713232" cy="713232"/>
          </a:xfrm>
          <a:prstGeom prst="rect">
            <a:avLst/>
          </a:prstGeom>
        </p:spPr>
      </p:pic>
      <p:pic>
        <p:nvPicPr>
          <p:cNvPr id="3" name="Image 1" descr="lg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73152"/>
            <a:ext cx="713232" cy="71323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91440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MODULES</a:t>
            </a:r>
            <a:endParaRPr lang="en-US" sz="2400" dirty="0"/>
          </a:p>
        </p:txBody>
      </p:sp>
      <p:sp>
        <p:nvSpPr>
          <p:cNvPr id="5" name="Shape 1"/>
          <p:cNvSpPr/>
          <p:nvPr/>
        </p:nvSpPr>
        <p:spPr>
          <a:xfrm>
            <a:off x="658368" y="914400"/>
            <a:ext cx="7863840" cy="22860"/>
          </a:xfrm>
          <a:prstGeom prst="rect">
            <a:avLst/>
          </a:prstGeom>
          <a:solidFill>
            <a:srgbClr val="404040"/>
          </a:solidFill>
          <a:ln/>
        </p:spPr>
      </p:sp>
      <p:sp>
        <p:nvSpPr>
          <p:cNvPr id="6" name="Text 2"/>
          <p:cNvSpPr txBox="1"/>
          <p:nvPr/>
        </p:nvSpPr>
        <p:spPr>
          <a:xfrm>
            <a:off x="8229600" y="46634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14</a:t>
            </a:r>
            <a:endParaRPr lang="en-US" sz="900" dirty="0"/>
          </a:p>
        </p:txBody>
      </p:sp>
      <p:sp>
        <p:nvSpPr>
          <p:cNvPr id="7" name="Shape 3"/>
          <p:cNvSpPr/>
          <p:nvPr/>
        </p:nvSpPr>
        <p:spPr>
          <a:xfrm>
            <a:off x="320040" y="1280160"/>
            <a:ext cx="1554480" cy="3017520"/>
          </a:xfrm>
          <a:prstGeom prst="roundRect">
            <a:avLst>
              <a:gd name="adj" fmla="val 5882"/>
            </a:avLst>
          </a:prstGeom>
          <a:solidFill>
            <a:srgbClr val="EAF0FA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822960" y="1463040"/>
            <a:ext cx="548640" cy="548640"/>
          </a:xfrm>
          <a:prstGeom prst="ellipse">
            <a:avLst/>
          </a:prstGeom>
          <a:solidFill>
            <a:srgbClr val="2F559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2296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393192" y="2148840"/>
            <a:ext cx="14081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Data Acquisition &amp; Pre-processing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393192" y="3017520"/>
            <a:ext cx="1408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Camera, dataset, augmentation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2011680" y="1280160"/>
            <a:ext cx="1554480" cy="3017520"/>
          </a:xfrm>
          <a:prstGeom prst="roundRect">
            <a:avLst>
              <a:gd name="adj" fmla="val 5882"/>
            </a:avLst>
          </a:prstGeom>
          <a:solidFill>
            <a:srgbClr val="EAF0FA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2514600" y="1463040"/>
            <a:ext cx="548640" cy="548640"/>
          </a:xfrm>
          <a:prstGeom prst="ellipse">
            <a:avLst/>
          </a:prstGeom>
          <a:solidFill>
            <a:srgbClr val="2F5597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251460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2084832" y="2148840"/>
            <a:ext cx="14081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Hybrid ML Classification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2084832" y="3017520"/>
            <a:ext cx="1408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YOLOv8n + CNN-Transformer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3703320" y="1280160"/>
            <a:ext cx="1554480" cy="3017520"/>
          </a:xfrm>
          <a:prstGeom prst="roundRect">
            <a:avLst>
              <a:gd name="adj" fmla="val 5882"/>
            </a:avLst>
          </a:prstGeom>
          <a:solidFill>
            <a:srgbClr val="EAF0FA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206240" y="1463040"/>
            <a:ext cx="548640" cy="548640"/>
          </a:xfrm>
          <a:prstGeom prst="ellipse">
            <a:avLst/>
          </a:prstGeom>
          <a:solidFill>
            <a:srgbClr val="2F5597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420624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0" name="Text 16"/>
          <p:cNvSpPr txBox="1"/>
          <p:nvPr/>
        </p:nvSpPr>
        <p:spPr>
          <a:xfrm>
            <a:off x="3776472" y="2148840"/>
            <a:ext cx="14081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Sensor Fusion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3776472" y="3017520"/>
            <a:ext cx="1408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Moisture / metal / capacitive + RF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5394960" y="1280160"/>
            <a:ext cx="1554480" cy="3017520"/>
          </a:xfrm>
          <a:prstGeom prst="roundRect">
            <a:avLst>
              <a:gd name="adj" fmla="val 5882"/>
            </a:avLst>
          </a:prstGeom>
          <a:solidFill>
            <a:srgbClr val="EAF0FA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5897880" y="1463040"/>
            <a:ext cx="548640" cy="548640"/>
          </a:xfrm>
          <a:prstGeom prst="ellipse">
            <a:avLst/>
          </a:prstGeom>
          <a:solidFill>
            <a:srgbClr val="2F5597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589788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5" name="Text 21"/>
          <p:cNvSpPr txBox="1"/>
          <p:nvPr/>
        </p:nvSpPr>
        <p:spPr>
          <a:xfrm>
            <a:off x="5468112" y="2148840"/>
            <a:ext cx="14081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Segregation Actuation</a:t>
            </a:r>
            <a:endParaRPr lang="en-US" sz="1300" dirty="0"/>
          </a:p>
        </p:txBody>
      </p:sp>
      <p:sp>
        <p:nvSpPr>
          <p:cNvPr id="26" name="Text 22"/>
          <p:cNvSpPr txBox="1"/>
          <p:nvPr/>
        </p:nvSpPr>
        <p:spPr>
          <a:xfrm>
            <a:off x="5468112" y="3017520"/>
            <a:ext cx="1408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Servo / conveyor bin control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7086600" y="1280160"/>
            <a:ext cx="1554480" cy="3017520"/>
          </a:xfrm>
          <a:prstGeom prst="roundRect">
            <a:avLst>
              <a:gd name="adj" fmla="val 5882"/>
            </a:avLst>
          </a:prstGeom>
          <a:solidFill>
            <a:srgbClr val="EAF0FA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7589520" y="1463040"/>
            <a:ext cx="548640" cy="548640"/>
          </a:xfrm>
          <a:prstGeom prst="ellipse">
            <a:avLst/>
          </a:prstGeom>
          <a:solidFill>
            <a:srgbClr val="2F5597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758952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30" name="Text 26"/>
          <p:cNvSpPr txBox="1"/>
          <p:nvPr/>
        </p:nvSpPr>
        <p:spPr>
          <a:xfrm>
            <a:off x="7159752" y="2148840"/>
            <a:ext cx="14081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IoT Monitoring Dashboard</a:t>
            </a:r>
            <a:endParaRPr lang="en-US" sz="1300" dirty="0"/>
          </a:p>
        </p:txBody>
      </p:sp>
      <p:sp>
        <p:nvSpPr>
          <p:cNvPr id="31" name="Text 27"/>
          <p:cNvSpPr txBox="1"/>
          <p:nvPr/>
        </p:nvSpPr>
        <p:spPr>
          <a:xfrm>
            <a:off x="7159752" y="3017520"/>
            <a:ext cx="1408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Fill level, stats, alerts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g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73152"/>
            <a:ext cx="713232" cy="713232"/>
          </a:xfrm>
          <a:prstGeom prst="rect">
            <a:avLst/>
          </a:prstGeom>
        </p:spPr>
      </p:pic>
      <p:pic>
        <p:nvPicPr>
          <p:cNvPr id="3" name="Image 1" descr="lg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73152"/>
            <a:ext cx="713232" cy="71323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91440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1: DATA ACQUISITION &amp; PRE-PROCESSING</a:t>
            </a:r>
            <a:endParaRPr lang="en-US" sz="1800" dirty="0"/>
          </a:p>
        </p:txBody>
      </p:sp>
      <p:sp>
        <p:nvSpPr>
          <p:cNvPr id="5" name="Shape 1"/>
          <p:cNvSpPr/>
          <p:nvPr/>
        </p:nvSpPr>
        <p:spPr>
          <a:xfrm>
            <a:off x="658368" y="914400"/>
            <a:ext cx="7863840" cy="22860"/>
          </a:xfrm>
          <a:prstGeom prst="rect">
            <a:avLst/>
          </a:prstGeom>
          <a:solidFill>
            <a:srgbClr val="404040"/>
          </a:solidFill>
          <a:ln/>
        </p:spPr>
      </p:sp>
      <p:sp>
        <p:nvSpPr>
          <p:cNvPr id="6" name="Text 2"/>
          <p:cNvSpPr txBox="1"/>
          <p:nvPr/>
        </p:nvSpPr>
        <p:spPr>
          <a:xfrm>
            <a:off x="8229600" y="46634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15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640080" y="10241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F5597"/>
                </a:solidFill>
              </a:rPr>
              <a:t>Collects and prepares clean, labelled images for the model.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365760" y="1508760"/>
            <a:ext cx="2194560" cy="2468880"/>
          </a:xfrm>
          <a:prstGeom prst="roundRect">
            <a:avLst>
              <a:gd name="adj" fmla="val 3333"/>
            </a:avLst>
          </a:prstGeom>
          <a:solidFill>
            <a:srgbClr val="EAF0FA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475488" y="1554480"/>
            <a:ext cx="1975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</a:rPr>
              <a:t>Input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475488" y="1920240"/>
            <a:ext cx="197510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➢"/>
            </a:pPr>
            <a:r>
              <a:rPr lang="en-US" sz="1200" dirty="0">
                <a:solidFill>
                  <a:srgbClr val="1F2937"/>
                </a:solidFill>
              </a:rPr>
              <a:t>Waste image from Pi camera</a:t>
            </a:r>
            <a:endParaRPr lang="en-US" sz="1200" dirty="0"/>
          </a:p>
          <a:p>
            <a:pPr marL="203200" indent="-203200">
              <a:spcAft>
                <a:spcPts val="400"/>
              </a:spcAft>
              <a:buSzPct val="100000"/>
              <a:buChar char="➢"/>
            </a:pPr>
            <a:r>
              <a:rPr lang="en-US" sz="1200" dirty="0">
                <a:solidFill>
                  <a:srgbClr val="1F2937"/>
                </a:solidFill>
              </a:rPr>
              <a:t>TrashNet, TACO, Kaggle sets + self-collected images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2743200" y="1508760"/>
            <a:ext cx="3474720" cy="2468880"/>
          </a:xfrm>
          <a:prstGeom prst="roundRect">
            <a:avLst>
              <a:gd name="adj" fmla="val 2963"/>
            </a:avLst>
          </a:prstGeom>
          <a:solidFill>
            <a:srgbClr val="EAF0FA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2852928" y="155448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</a:rPr>
              <a:t>Process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2852928" y="1920240"/>
            <a:ext cx="325526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➢"/>
            </a:pPr>
            <a:r>
              <a:rPr lang="en-US" sz="1200" dirty="0">
                <a:solidFill>
                  <a:srgbClr val="1F2937"/>
                </a:solidFill>
              </a:rPr>
              <a:t>Resize to 224×224, normalise, denoise</a:t>
            </a:r>
            <a:endParaRPr lang="en-US" sz="1200" dirty="0"/>
          </a:p>
          <a:p>
            <a:pPr marL="203200" indent="-203200">
              <a:spcAft>
                <a:spcPts val="400"/>
              </a:spcAft>
              <a:buSzPct val="100000"/>
              <a:buChar char="➢"/>
            </a:pPr>
            <a:r>
              <a:rPr lang="en-US" sz="1200" dirty="0">
                <a:solidFill>
                  <a:srgbClr val="1F2937"/>
                </a:solidFill>
              </a:rPr>
              <a:t>Augment: flip, rotate, brightness</a:t>
            </a:r>
            <a:endParaRPr lang="en-US" sz="1200" dirty="0"/>
          </a:p>
          <a:p>
            <a:pPr marL="203200" indent="-203200">
              <a:spcAft>
                <a:spcPts val="400"/>
              </a:spcAft>
              <a:buSzPct val="100000"/>
              <a:buChar char="➢"/>
            </a:pPr>
            <a:r>
              <a:rPr lang="en-US" sz="1200" dirty="0">
                <a:solidFill>
                  <a:srgbClr val="1F2937"/>
                </a:solidFill>
              </a:rPr>
              <a:t>Label classes; 80/10/10 split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0" y="1508760"/>
            <a:ext cx="2377440" cy="2468880"/>
          </a:xfrm>
          <a:prstGeom prst="roundRect">
            <a:avLst>
              <a:gd name="adj" fmla="val 3077"/>
            </a:avLst>
          </a:prstGeom>
          <a:solidFill>
            <a:srgbClr val="EAF0FA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510528" y="1554480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</a:rPr>
              <a:t>Output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6510528" y="1920240"/>
            <a:ext cx="215798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➢"/>
            </a:pPr>
            <a:r>
              <a:rPr lang="en-US" sz="1200" dirty="0">
                <a:solidFill>
                  <a:srgbClr val="1F2937"/>
                </a:solidFill>
              </a:rPr>
              <a:t>Clean labelled frames / tensors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365760" y="41148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Tools: OpenCV, NumPy, Roboflow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g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73152"/>
            <a:ext cx="713232" cy="713232"/>
          </a:xfrm>
          <a:prstGeom prst="rect">
            <a:avLst/>
          </a:prstGeom>
        </p:spPr>
      </p:pic>
      <p:pic>
        <p:nvPicPr>
          <p:cNvPr id="3" name="Image 1" descr="lg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73152"/>
            <a:ext cx="713232" cy="71323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91440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2: HYBRID ML CLASSIFICATION</a:t>
            </a:r>
            <a:endParaRPr lang="en-US" sz="2400" dirty="0"/>
          </a:p>
        </p:txBody>
      </p:sp>
      <p:sp>
        <p:nvSpPr>
          <p:cNvPr id="5" name="Shape 1"/>
          <p:cNvSpPr/>
          <p:nvPr/>
        </p:nvSpPr>
        <p:spPr>
          <a:xfrm>
            <a:off x="658368" y="914400"/>
            <a:ext cx="7863840" cy="22860"/>
          </a:xfrm>
          <a:prstGeom prst="rect">
            <a:avLst/>
          </a:prstGeom>
          <a:solidFill>
            <a:srgbClr val="404040"/>
          </a:solidFill>
          <a:ln/>
        </p:spPr>
      </p:sp>
      <p:sp>
        <p:nvSpPr>
          <p:cNvPr id="6" name="Text 2"/>
          <p:cNvSpPr txBox="1"/>
          <p:nvPr/>
        </p:nvSpPr>
        <p:spPr>
          <a:xfrm>
            <a:off x="8229600" y="46634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16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640080" y="10241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F5597"/>
                </a:solidFill>
              </a:rPr>
              <a:t>Core intelligence: detects the item and classifies it.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365760" y="1508760"/>
            <a:ext cx="2194560" cy="2468880"/>
          </a:xfrm>
          <a:prstGeom prst="roundRect">
            <a:avLst>
              <a:gd name="adj" fmla="val 3333"/>
            </a:avLst>
          </a:prstGeom>
          <a:solidFill>
            <a:srgbClr val="EAF0FA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475488" y="1554480"/>
            <a:ext cx="1975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</a:rPr>
              <a:t>Input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475488" y="1920240"/>
            <a:ext cx="197510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➢"/>
            </a:pPr>
            <a:r>
              <a:rPr lang="en-US" sz="1200" dirty="0">
                <a:solidFill>
                  <a:srgbClr val="1F2937"/>
                </a:solidFill>
              </a:rPr>
              <a:t>Pre-processed frame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2743200" y="1508760"/>
            <a:ext cx="3474720" cy="2468880"/>
          </a:xfrm>
          <a:prstGeom prst="roundRect">
            <a:avLst>
              <a:gd name="adj" fmla="val 2963"/>
            </a:avLst>
          </a:prstGeom>
          <a:solidFill>
            <a:srgbClr val="EAF0FA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2852928" y="155448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</a:rPr>
              <a:t>Process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2852928" y="1920240"/>
            <a:ext cx="325526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➢"/>
            </a:pPr>
            <a:r>
              <a:rPr lang="en-US" sz="1200" dirty="0">
                <a:solidFill>
                  <a:srgbClr val="1F2937"/>
                </a:solidFill>
              </a:rPr>
              <a:t>YOLOv8n detects and crops the item</a:t>
            </a:r>
            <a:endParaRPr lang="en-US" sz="1200" dirty="0"/>
          </a:p>
          <a:p>
            <a:pPr marL="203200" indent="-203200">
              <a:spcAft>
                <a:spcPts val="400"/>
              </a:spcAft>
              <a:buSzPct val="100000"/>
              <a:buChar char="➢"/>
            </a:pPr>
            <a:r>
              <a:rPr lang="en-US" sz="1200" dirty="0">
                <a:solidFill>
                  <a:srgbClr val="1F2937"/>
                </a:solidFill>
              </a:rPr>
              <a:t>EfficientNet-B0 extracts local features</a:t>
            </a:r>
            <a:endParaRPr lang="en-US" sz="1200" dirty="0"/>
          </a:p>
          <a:p>
            <a:pPr marL="203200" indent="-203200">
              <a:spcAft>
                <a:spcPts val="400"/>
              </a:spcAft>
              <a:buSzPct val="100000"/>
              <a:buChar char="➢"/>
            </a:pPr>
            <a:r>
              <a:rPr lang="en-US" sz="1200" dirty="0">
                <a:solidFill>
                  <a:srgbClr val="1F2937"/>
                </a:solidFill>
              </a:rPr>
              <a:t>Transformer encoder adds global context</a:t>
            </a:r>
            <a:endParaRPr lang="en-US" sz="1200" dirty="0"/>
          </a:p>
          <a:p>
            <a:pPr marL="203200" indent="-203200">
              <a:spcAft>
                <a:spcPts val="400"/>
              </a:spcAft>
              <a:buSzPct val="100000"/>
              <a:buChar char="➢"/>
            </a:pPr>
            <a:r>
              <a:rPr lang="en-US" sz="1200" dirty="0">
                <a:solidFill>
                  <a:srgbClr val="1F2937"/>
                </a:solidFill>
              </a:rPr>
              <a:t>Softmax gives class probabilities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0" y="1508760"/>
            <a:ext cx="2377440" cy="2468880"/>
          </a:xfrm>
          <a:prstGeom prst="roundRect">
            <a:avLst>
              <a:gd name="adj" fmla="val 3077"/>
            </a:avLst>
          </a:prstGeom>
          <a:solidFill>
            <a:srgbClr val="EAF0FA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510528" y="1554480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</a:rPr>
              <a:t>Output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6510528" y="1920240"/>
            <a:ext cx="215798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➢"/>
            </a:pPr>
            <a:r>
              <a:rPr lang="en-US" sz="1200" dirty="0">
                <a:solidFill>
                  <a:srgbClr val="1F2937"/>
                </a:solidFill>
              </a:rPr>
              <a:t>Bounding box + class probabilities (P_vision)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365760" y="41148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Tools: PyTorch, ONNX / TFLite; metrics: accuracy, F1, latency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g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73152"/>
            <a:ext cx="713232" cy="713232"/>
          </a:xfrm>
          <a:prstGeom prst="rect">
            <a:avLst/>
          </a:prstGeom>
        </p:spPr>
      </p:pic>
      <p:pic>
        <p:nvPicPr>
          <p:cNvPr id="3" name="Image 1" descr="lg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73152"/>
            <a:ext cx="713232" cy="71323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91440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3: SENSOR FUSION</a:t>
            </a:r>
            <a:endParaRPr lang="en-US" sz="2400" dirty="0"/>
          </a:p>
        </p:txBody>
      </p:sp>
      <p:sp>
        <p:nvSpPr>
          <p:cNvPr id="5" name="Shape 1"/>
          <p:cNvSpPr/>
          <p:nvPr/>
        </p:nvSpPr>
        <p:spPr>
          <a:xfrm>
            <a:off x="658368" y="914400"/>
            <a:ext cx="7863840" cy="22860"/>
          </a:xfrm>
          <a:prstGeom prst="rect">
            <a:avLst/>
          </a:prstGeom>
          <a:solidFill>
            <a:srgbClr val="404040"/>
          </a:solidFill>
          <a:ln/>
        </p:spPr>
      </p:sp>
      <p:sp>
        <p:nvSpPr>
          <p:cNvPr id="6" name="Text 2"/>
          <p:cNvSpPr txBox="1"/>
          <p:nvPr/>
        </p:nvSpPr>
        <p:spPr>
          <a:xfrm>
            <a:off x="8229600" y="46634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17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640080" y="10241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F5597"/>
                </a:solidFill>
              </a:rPr>
              <a:t>Uses material cues to fix visually confusing items.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365760" y="1508760"/>
            <a:ext cx="2194560" cy="2468880"/>
          </a:xfrm>
          <a:prstGeom prst="roundRect">
            <a:avLst>
              <a:gd name="adj" fmla="val 3333"/>
            </a:avLst>
          </a:prstGeom>
          <a:solidFill>
            <a:srgbClr val="EAF0FA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475488" y="1554480"/>
            <a:ext cx="1975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</a:rPr>
              <a:t>Input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475488" y="1920240"/>
            <a:ext cx="197510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➢"/>
            </a:pPr>
            <a:r>
              <a:rPr lang="en-US" sz="1200" dirty="0">
                <a:solidFill>
                  <a:srgbClr val="1F2937"/>
                </a:solidFill>
              </a:rPr>
              <a:t>P_vision from Module 2</a:t>
            </a:r>
            <a:endParaRPr lang="en-US" sz="1200" dirty="0"/>
          </a:p>
          <a:p>
            <a:pPr marL="203200" indent="-203200">
              <a:spcAft>
                <a:spcPts val="400"/>
              </a:spcAft>
              <a:buSzPct val="100000"/>
              <a:buChar char="➢"/>
            </a:pPr>
            <a:r>
              <a:rPr lang="en-US" sz="1200" dirty="0">
                <a:solidFill>
                  <a:srgbClr val="1F2937"/>
                </a:solidFill>
              </a:rPr>
              <a:t>Moisture, inductive (metal), capacitive readings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2743200" y="1508760"/>
            <a:ext cx="3474720" cy="2468880"/>
          </a:xfrm>
          <a:prstGeom prst="roundRect">
            <a:avLst>
              <a:gd name="adj" fmla="val 2963"/>
            </a:avLst>
          </a:prstGeom>
          <a:solidFill>
            <a:srgbClr val="EAF0FA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2852928" y="155448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</a:rPr>
              <a:t>Process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2852928" y="1920240"/>
            <a:ext cx="325526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➢"/>
            </a:pPr>
            <a:r>
              <a:rPr lang="en-US" sz="1200" dirty="0">
                <a:solidFill>
                  <a:srgbClr val="1F2937"/>
                </a:solidFill>
              </a:rPr>
              <a:t>Normalise sensor values</a:t>
            </a:r>
            <a:endParaRPr lang="en-US" sz="1200" dirty="0"/>
          </a:p>
          <a:p>
            <a:pPr marL="203200" indent="-203200">
              <a:spcAft>
                <a:spcPts val="400"/>
              </a:spcAft>
              <a:buSzPct val="100000"/>
              <a:buChar char="➢"/>
            </a:pPr>
            <a:r>
              <a:rPr lang="en-US" sz="1200" dirty="0">
                <a:solidFill>
                  <a:srgbClr val="1F2937"/>
                </a:solidFill>
              </a:rPr>
              <a:t>Random Forest on [P_vision, sensors]</a:t>
            </a:r>
            <a:endParaRPr lang="en-US" sz="1200" dirty="0"/>
          </a:p>
          <a:p>
            <a:pPr marL="203200" indent="-203200">
              <a:spcAft>
                <a:spcPts val="400"/>
              </a:spcAft>
              <a:buSzPct val="100000"/>
              <a:buChar char="➢"/>
            </a:pPr>
            <a:r>
              <a:rPr lang="en-US" sz="1200" dirty="0">
                <a:solidFill>
                  <a:srgbClr val="1F2937"/>
                </a:solidFill>
              </a:rPr>
              <a:t>Confidence threshold of 0.80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0" y="1508760"/>
            <a:ext cx="2377440" cy="2468880"/>
          </a:xfrm>
          <a:prstGeom prst="roundRect">
            <a:avLst>
              <a:gd name="adj" fmla="val 3077"/>
            </a:avLst>
          </a:prstGeom>
          <a:solidFill>
            <a:srgbClr val="EAF0FA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510528" y="1554480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</a:rPr>
              <a:t>Output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6510528" y="1920240"/>
            <a:ext cx="215798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➢"/>
            </a:pPr>
            <a:r>
              <a:rPr lang="en-US" sz="1200" dirty="0">
                <a:solidFill>
                  <a:srgbClr val="1F2937"/>
                </a:solidFill>
              </a:rPr>
              <a:t>Final class + confidence score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365760" y="41148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Tools: scikit-learn, Arduino / Pi GPIO sensors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g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73152"/>
            <a:ext cx="713232" cy="713232"/>
          </a:xfrm>
          <a:prstGeom prst="rect">
            <a:avLst/>
          </a:prstGeom>
        </p:spPr>
      </p:pic>
      <p:pic>
        <p:nvPicPr>
          <p:cNvPr id="3" name="Image 1" descr="lg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73152"/>
            <a:ext cx="713232" cy="71323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91440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4: SEGREGATION ACTUATION</a:t>
            </a:r>
            <a:endParaRPr lang="en-US" sz="2400" dirty="0"/>
          </a:p>
        </p:txBody>
      </p:sp>
      <p:sp>
        <p:nvSpPr>
          <p:cNvPr id="5" name="Shape 1"/>
          <p:cNvSpPr/>
          <p:nvPr/>
        </p:nvSpPr>
        <p:spPr>
          <a:xfrm>
            <a:off x="658368" y="914400"/>
            <a:ext cx="7863840" cy="22860"/>
          </a:xfrm>
          <a:prstGeom prst="rect">
            <a:avLst/>
          </a:prstGeom>
          <a:solidFill>
            <a:srgbClr val="404040"/>
          </a:solidFill>
          <a:ln/>
        </p:spPr>
      </p:sp>
      <p:sp>
        <p:nvSpPr>
          <p:cNvPr id="6" name="Text 2"/>
          <p:cNvSpPr txBox="1"/>
          <p:nvPr/>
        </p:nvSpPr>
        <p:spPr>
          <a:xfrm>
            <a:off x="8229600" y="46634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18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640080" y="10241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F5597"/>
                </a:solidFill>
              </a:rPr>
              <a:t>Physically drops the item into the right bin.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365760" y="1508760"/>
            <a:ext cx="2194560" cy="2468880"/>
          </a:xfrm>
          <a:prstGeom prst="roundRect">
            <a:avLst>
              <a:gd name="adj" fmla="val 3333"/>
            </a:avLst>
          </a:prstGeom>
          <a:solidFill>
            <a:srgbClr val="EAF0FA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475488" y="1554480"/>
            <a:ext cx="1975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</a:rPr>
              <a:t>Input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475488" y="1920240"/>
            <a:ext cx="197510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➢"/>
            </a:pPr>
            <a:r>
              <a:rPr lang="en-US" sz="1200" dirty="0">
                <a:solidFill>
                  <a:srgbClr val="1F2937"/>
                </a:solidFill>
              </a:rPr>
              <a:t>Final class from Module 3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2743200" y="1508760"/>
            <a:ext cx="3474720" cy="2468880"/>
          </a:xfrm>
          <a:prstGeom prst="roundRect">
            <a:avLst>
              <a:gd name="adj" fmla="val 2963"/>
            </a:avLst>
          </a:prstGeom>
          <a:solidFill>
            <a:srgbClr val="EAF0FA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2852928" y="155448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</a:rPr>
              <a:t>Process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2852928" y="1920240"/>
            <a:ext cx="325526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➢"/>
            </a:pPr>
            <a:r>
              <a:rPr lang="en-US" sz="1200" dirty="0">
                <a:solidFill>
                  <a:srgbClr val="1F2937"/>
                </a:solidFill>
              </a:rPr>
              <a:t>Pi sends signal to servo driver</a:t>
            </a:r>
            <a:endParaRPr lang="en-US" sz="1200" dirty="0"/>
          </a:p>
          <a:p>
            <a:pPr marL="203200" indent="-203200">
              <a:spcAft>
                <a:spcPts val="400"/>
              </a:spcAft>
              <a:buSzPct val="100000"/>
              <a:buChar char="➢"/>
            </a:pPr>
            <a:r>
              <a:rPr lang="en-US" sz="1200" dirty="0">
                <a:solidFill>
                  <a:srgbClr val="1F2937"/>
                </a:solidFill>
              </a:rPr>
              <a:t>Diverter / lid rotates to the matching bin</a:t>
            </a:r>
            <a:endParaRPr lang="en-US" sz="1200" dirty="0"/>
          </a:p>
          <a:p>
            <a:pPr marL="203200" indent="-203200">
              <a:spcAft>
                <a:spcPts val="400"/>
              </a:spcAft>
              <a:buSzPct val="100000"/>
              <a:buChar char="➢"/>
            </a:pPr>
            <a:r>
              <a:rPr lang="en-US" sz="1200" dirty="0">
                <a:solidFill>
                  <a:srgbClr val="1F2937"/>
                </a:solidFill>
              </a:rPr>
              <a:t>Low confidence goes to the "unknown" bin</a:t>
            </a:r>
            <a:endParaRPr lang="en-US" sz="1200" dirty="0"/>
          </a:p>
          <a:p>
            <a:pPr marL="203200" indent="-203200">
              <a:spcAft>
                <a:spcPts val="400"/>
              </a:spcAft>
              <a:buSzPct val="100000"/>
              <a:buChar char="➢"/>
            </a:pPr>
            <a:r>
              <a:rPr lang="en-US" sz="1200" dirty="0">
                <a:solidFill>
                  <a:srgbClr val="1F2937"/>
                </a:solidFill>
              </a:rPr>
              <a:t>Reset after a timeout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0" y="1508760"/>
            <a:ext cx="2377440" cy="2468880"/>
          </a:xfrm>
          <a:prstGeom prst="roundRect">
            <a:avLst>
              <a:gd name="adj" fmla="val 3077"/>
            </a:avLst>
          </a:prstGeom>
          <a:solidFill>
            <a:srgbClr val="EAF0FA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510528" y="1554480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</a:rPr>
              <a:t>Output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6510528" y="1920240"/>
            <a:ext cx="215798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➢"/>
            </a:pPr>
            <a:r>
              <a:rPr lang="en-US" sz="1200" dirty="0">
                <a:solidFill>
                  <a:srgbClr val="1F2937"/>
                </a:solidFill>
              </a:rPr>
              <a:t>Item sorted into Wet / Dry / Recyclable / Hazardous bin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365760" y="41148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Tools: Servo motors, motor driver, optional conveyor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g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73152"/>
            <a:ext cx="713232" cy="713232"/>
          </a:xfrm>
          <a:prstGeom prst="rect">
            <a:avLst/>
          </a:prstGeom>
        </p:spPr>
      </p:pic>
      <p:pic>
        <p:nvPicPr>
          <p:cNvPr id="3" name="Image 1" descr="lg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73152"/>
            <a:ext cx="713232" cy="71323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91440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5: IOT MONITORING DASHBOARD</a:t>
            </a:r>
            <a:endParaRPr lang="en-US" sz="2400" dirty="0"/>
          </a:p>
        </p:txBody>
      </p:sp>
      <p:sp>
        <p:nvSpPr>
          <p:cNvPr id="5" name="Shape 1"/>
          <p:cNvSpPr/>
          <p:nvPr/>
        </p:nvSpPr>
        <p:spPr>
          <a:xfrm>
            <a:off x="658368" y="914400"/>
            <a:ext cx="7863840" cy="22860"/>
          </a:xfrm>
          <a:prstGeom prst="rect">
            <a:avLst/>
          </a:prstGeom>
          <a:solidFill>
            <a:srgbClr val="404040"/>
          </a:solidFill>
          <a:ln/>
        </p:spPr>
      </p:sp>
      <p:sp>
        <p:nvSpPr>
          <p:cNvPr id="6" name="Text 2"/>
          <p:cNvSpPr txBox="1"/>
          <p:nvPr/>
        </p:nvSpPr>
        <p:spPr>
          <a:xfrm>
            <a:off x="8229600" y="46634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19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640080" y="10241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F5597"/>
                </a:solidFill>
              </a:rPr>
              <a:t>Gives live visibility of bins and system performance.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365760" y="1508760"/>
            <a:ext cx="2194560" cy="2468880"/>
          </a:xfrm>
          <a:prstGeom prst="roundRect">
            <a:avLst>
              <a:gd name="adj" fmla="val 3333"/>
            </a:avLst>
          </a:prstGeom>
          <a:solidFill>
            <a:srgbClr val="EAF0FA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475488" y="1554480"/>
            <a:ext cx="1975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</a:rPr>
              <a:t>Input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475488" y="1920240"/>
            <a:ext cx="197510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➢"/>
            </a:pPr>
            <a:r>
              <a:rPr lang="en-US" sz="1200" dirty="0">
                <a:solidFill>
                  <a:srgbClr val="1F2937"/>
                </a:solidFill>
              </a:rPr>
              <a:t>Ultrasonic fill level</a:t>
            </a:r>
            <a:endParaRPr lang="en-US" sz="1200" dirty="0"/>
          </a:p>
          <a:p>
            <a:pPr marL="203200" indent="-203200">
              <a:spcAft>
                <a:spcPts val="400"/>
              </a:spcAft>
              <a:buSzPct val="100000"/>
              <a:buChar char="➢"/>
            </a:pPr>
            <a:r>
              <a:rPr lang="en-US" sz="1200" dirty="0">
                <a:solidFill>
                  <a:srgbClr val="1F2937"/>
                </a:solidFill>
              </a:rPr>
              <a:t>Class counts and confidence logs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2743200" y="1508760"/>
            <a:ext cx="3474720" cy="2468880"/>
          </a:xfrm>
          <a:prstGeom prst="roundRect">
            <a:avLst>
              <a:gd name="adj" fmla="val 2963"/>
            </a:avLst>
          </a:prstGeom>
          <a:solidFill>
            <a:srgbClr val="EAF0FA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2852928" y="155448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</a:rPr>
              <a:t>Process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2852928" y="1920240"/>
            <a:ext cx="325526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➢"/>
            </a:pPr>
            <a:r>
              <a:rPr lang="en-US" sz="1200" dirty="0">
                <a:solidFill>
                  <a:srgbClr val="1F2937"/>
                </a:solidFill>
              </a:rPr>
              <a:t>Send data via MQTT / HTTP to the cloud</a:t>
            </a:r>
            <a:endParaRPr lang="en-US" sz="1200" dirty="0"/>
          </a:p>
          <a:p>
            <a:pPr marL="203200" indent="-203200">
              <a:spcAft>
                <a:spcPts val="400"/>
              </a:spcAft>
              <a:buSzPct val="100000"/>
              <a:buChar char="➢"/>
            </a:pPr>
            <a:r>
              <a:rPr lang="en-US" sz="1200" dirty="0">
                <a:solidFill>
                  <a:srgbClr val="1F2937"/>
                </a:solidFill>
              </a:rPr>
              <a:t>Alert when a bin is 80% full</a:t>
            </a:r>
            <a:endParaRPr lang="en-US" sz="1200" dirty="0"/>
          </a:p>
          <a:p>
            <a:pPr marL="203200" indent="-203200">
              <a:spcAft>
                <a:spcPts val="400"/>
              </a:spcAft>
              <a:buSzPct val="100000"/>
              <a:buChar char="➢"/>
            </a:pPr>
            <a:r>
              <a:rPr lang="en-US" sz="1200" dirty="0">
                <a:solidFill>
                  <a:srgbClr val="1F2937"/>
                </a:solidFill>
              </a:rPr>
              <a:t>Save low-confidence images for retraining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0" y="1508760"/>
            <a:ext cx="2377440" cy="2468880"/>
          </a:xfrm>
          <a:prstGeom prst="roundRect">
            <a:avLst>
              <a:gd name="adj" fmla="val 3077"/>
            </a:avLst>
          </a:prstGeom>
          <a:solidFill>
            <a:srgbClr val="EAF0FA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510528" y="1554480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</a:rPr>
              <a:t>Output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6510528" y="1920240"/>
            <a:ext cx="215798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➢"/>
            </a:pPr>
            <a:r>
              <a:rPr lang="en-US" sz="1200" dirty="0">
                <a:solidFill>
                  <a:srgbClr val="1F2937"/>
                </a:solidFill>
              </a:rPr>
              <a:t>Live dashboard, alerts and reports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365760" y="41148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Tools: Firebase / ThingSpeak, Flask, MQTT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g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73152"/>
            <a:ext cx="713232" cy="713232"/>
          </a:xfrm>
          <a:prstGeom prst="rect">
            <a:avLst/>
          </a:prstGeom>
        </p:spPr>
      </p:pic>
      <p:pic>
        <p:nvPicPr>
          <p:cNvPr id="3" name="Image 1" descr="lg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73152"/>
            <a:ext cx="713232" cy="71323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91440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5" name="Shape 1"/>
          <p:cNvSpPr/>
          <p:nvPr/>
        </p:nvSpPr>
        <p:spPr>
          <a:xfrm>
            <a:off x="658368" y="914400"/>
            <a:ext cx="7863840" cy="22860"/>
          </a:xfrm>
          <a:prstGeom prst="rect">
            <a:avLst/>
          </a:prstGeom>
          <a:solidFill>
            <a:srgbClr val="404040"/>
          </a:solidFill>
          <a:ln/>
        </p:spPr>
      </p:sp>
      <p:sp>
        <p:nvSpPr>
          <p:cNvPr id="6" name="Text 2"/>
          <p:cNvSpPr txBox="1"/>
          <p:nvPr/>
        </p:nvSpPr>
        <p:spPr>
          <a:xfrm>
            <a:off x="8229600" y="46634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20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640080" y="114300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spcAft>
                <a:spcPts val="700"/>
              </a:spcAft>
              <a:buSzPct val="100000"/>
              <a:buChar char="➢"/>
            </a:pPr>
            <a:r>
              <a:rPr lang="en-US" sz="1600" dirty="0">
                <a:solidFill>
                  <a:srgbClr val="1F2937"/>
                </a:solidFill>
              </a:rPr>
              <a:t>A hybrid ML pipeline (YOLO + CNN-Transformer + sensor fusion) addresses the accuracy and edge-deployment gaps seen in single-model waste classifiers.</a:t>
            </a:r>
            <a:endParaRPr lang="en-US" sz="1600" dirty="0"/>
          </a:p>
          <a:p>
            <a:pPr marL="279400" indent="-279400">
              <a:spcAft>
                <a:spcPts val="700"/>
              </a:spcAft>
              <a:buSzPct val="100000"/>
              <a:buChar char="➢"/>
            </a:pPr>
            <a:r>
              <a:rPr lang="en-US" sz="1600" dirty="0">
                <a:solidFill>
                  <a:srgbClr val="1F2937"/>
                </a:solidFill>
              </a:rPr>
              <a:t>Literature from 2023–2026 shows hybrid and ensemble models consistently outperform single CNNs.</a:t>
            </a:r>
            <a:endParaRPr lang="en-US" sz="1600" dirty="0"/>
          </a:p>
          <a:p>
            <a:pPr marL="279400" indent="-279400">
              <a:spcAft>
                <a:spcPts val="700"/>
              </a:spcAft>
              <a:buSzPct val="100000"/>
              <a:buChar char="➢"/>
            </a:pPr>
            <a:r>
              <a:rPr lang="en-US" sz="1600" dirty="0">
                <a:solidFill>
                  <a:srgbClr val="1F2937"/>
                </a:solidFill>
              </a:rPr>
              <a:t>The 5-module design gives an end-to-end, low-cost smart bin with IoT monitoring.</a:t>
            </a:r>
            <a:endParaRPr lang="en-US" sz="1600" dirty="0"/>
          </a:p>
          <a:p>
            <a:pPr marL="279400" indent="-279400">
              <a:spcAft>
                <a:spcPts val="700"/>
              </a:spcAft>
              <a:buSzPct val="100000"/>
              <a:buChar char="➢"/>
            </a:pPr>
            <a:r>
              <a:rPr lang="en-US" sz="1600" dirty="0">
                <a:solidFill>
                  <a:srgbClr val="1F2937"/>
                </a:solidFill>
              </a:rPr>
              <a:t>Future work: multi-object scenes, domain adaptation, robotic-arm sorting and larger real-world datasets.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2026-10-05T00:50:00Z</dcterms:created>
  <dcterms:modified xsi:type="dcterms:W3CDTF">2026-10-05T00:50:00Z</dcterms:modified>
</cp:coreProperties>
</file>